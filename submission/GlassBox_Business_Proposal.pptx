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_Imag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26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0_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828800" cy="484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659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8D2FF"/>
                </a:solidFill>
                <a:latin typeface="Arial"/>
              </a:rPr>
              <a:t>ACCENTURE INNOVATION CHALLENGE 2026  ·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9601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GlassBox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Business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In one sentence: a three-to-four-day manual investigation, run in under 30 seconds — measured, not claimed — by the version of this tool that says “I don’t know” instead of inventing a cause.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327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A8F7"/>
                </a:solidFill>
                <a:latin typeface="Arial"/>
              </a:rPr>
              <a:t>Problem statement 3  ·  BusinessIntelligence.ai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2531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CFC7DD"/>
                </a:solidFill>
                <a:latin typeface="Arial"/>
              </a:rPr>
              <a:t>Team 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9253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C9C2D6"/>
                </a:solidFill>
                <a:latin typeface="Arial"/>
              </a:rPr>
              <a:t>Business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Team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Two builders, one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45720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110002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A100FF"/>
                </a:solidFill>
                <a:latin typeface="Arial"/>
              </a:rPr>
              <a:t>TEAM NAME:   </a:t>
            </a:r>
            <a:r>
              <a:rPr sz="1400" b="1">
                <a:solidFill>
                  <a:srgbClr val="333342"/>
                </a:solidFill>
                <a:latin typeface="Arial"/>
              </a:rPr>
              <a:t>Vantage      </a:t>
            </a:r>
            <a:r>
              <a:rPr sz="1400" b="1">
                <a:solidFill>
                  <a:srgbClr val="A100FF"/>
                </a:solidFill>
                <a:latin typeface="Arial"/>
              </a:rPr>
              <a:t>IDEA NAME:   </a:t>
            </a:r>
            <a:r>
              <a:rPr sz="1400" b="1">
                <a:solidFill>
                  <a:srgbClr val="333342"/>
                </a:solidFill>
                <a:latin typeface="Arial"/>
              </a:rPr>
              <a:t>GlassBox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5504688" cy="393192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856232"/>
            <a:ext cx="1463040" cy="1691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icture26.pn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685800" y="1783080"/>
            <a:ext cx="1463040" cy="1691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675888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A100FF"/>
                </a:solidFill>
                <a:latin typeface="Arial"/>
              </a:rPr>
              <a:t>Yuvraj Singh Meel  </a:t>
            </a:r>
            <a:r>
              <a:rPr sz="1700" b="0">
                <a:solidFill>
                  <a:srgbClr val="A100FF"/>
                </a:solidFill>
                <a:latin typeface="Arial"/>
              </a:rPr>
              <a:t>(Team Leader)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33088"/>
            <a:ext cx="4956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College:  </a:t>
            </a:r>
            <a:r>
              <a:rPr sz="1300" b="0">
                <a:solidFill>
                  <a:srgbClr val="333342"/>
                </a:solidFill>
                <a:latin typeface="Arial"/>
              </a:rPr>
              <a:t>Indian Institute of Technology Kanpur</a:t>
            </a:r>
          </a:p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Stream:  </a:t>
            </a:r>
            <a:r>
              <a:rPr sz="1300" b="0">
                <a:solidFill>
                  <a:srgbClr val="333342"/>
                </a:solidFill>
                <a:latin typeface="Arial"/>
              </a:rPr>
              <a:t>B.Tech, Biological Sciences &amp; Bioengineering</a:t>
            </a:r>
          </a:p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Year of graduation:  </a:t>
            </a:r>
            <a:r>
              <a:rPr sz="1300" b="0">
                <a:solidFill>
                  <a:srgbClr val="333342"/>
                </a:solidFill>
                <a:latin typeface="Arial"/>
              </a:rPr>
              <a:t>2027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4" y="1508760"/>
            <a:ext cx="5504688" cy="393192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0256" y="1856232"/>
            <a:ext cx="1463040" cy="169164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icture32.png"/>
          <p:cNvPicPr>
            <a:picLocks noChangeAspect="1"/>
          </p:cNvPicPr>
          <p:nvPr/>
        </p:nvPicPr>
        <p:blipFill>
          <a:blip r:embed="rId3"/>
          <a:srcRect t="13096" b="13096"/>
          <a:stretch>
            <a:fillRect/>
          </a:stretch>
        </p:blipFill>
        <p:spPr>
          <a:xfrm>
            <a:off x="6547104" y="1783080"/>
            <a:ext cx="1463040" cy="1691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47104" y="3675888"/>
            <a:ext cx="495604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A100FF"/>
                </a:solidFill>
                <a:latin typeface="Arial"/>
              </a:rPr>
              <a:t>Nikhil  </a:t>
            </a:r>
            <a:r>
              <a:rPr sz="1700" b="0">
                <a:solidFill>
                  <a:srgbClr val="A100FF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133088"/>
            <a:ext cx="4956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College:  </a:t>
            </a:r>
            <a:r>
              <a:rPr sz="1300" b="0">
                <a:solidFill>
                  <a:srgbClr val="333342"/>
                </a:solidFill>
                <a:latin typeface="Arial"/>
              </a:rPr>
              <a:t>Indian Institute of Technology Kanpur</a:t>
            </a:r>
          </a:p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Stream:  </a:t>
            </a:r>
            <a:r>
              <a:rPr sz="1300" b="0">
                <a:solidFill>
                  <a:srgbClr val="333342"/>
                </a:solidFill>
                <a:latin typeface="Arial"/>
              </a:rPr>
              <a:t>B.Tech, Electrical Engineering</a:t>
            </a:r>
          </a:p>
          <a:p>
            <a:pPr algn="l">
              <a:lnSpc>
                <a:spcPct val="145000"/>
              </a:lnSpc>
              <a:spcAft>
                <a:spcPts val="900"/>
              </a:spcAft>
            </a:pPr>
            <a:r>
              <a:rPr sz="1300" b="1">
                <a:solidFill>
                  <a:srgbClr val="333342"/>
                </a:solidFill>
                <a:latin typeface="Arial"/>
              </a:rPr>
              <a:t>Year of graduation:  </a:t>
            </a:r>
            <a:r>
              <a:rPr sz="1300" b="0">
                <a:solidFill>
                  <a:srgbClr val="333342"/>
                </a:solidFill>
                <a:latin typeface="Arial"/>
              </a:rPr>
              <a:t>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5641848"/>
            <a:ext cx="11365992" cy="73152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751576"/>
            <a:ext cx="108173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1">
                <a:solidFill>
                  <a:srgbClr val="D9A8F7"/>
                </a:solidFill>
                <a:latin typeface="Arial"/>
              </a:rPr>
              <a:t>OUR SUBMISSION   </a:t>
            </a:r>
            <a:r>
              <a:rPr sz="1100" b="1">
                <a:solidFill>
                  <a:srgbClr val="FFFFFF"/>
                </a:solidFill>
                <a:latin typeface="Arial"/>
              </a:rPr>
              <a:t>Problem statement 3 · BusinessIntelligence.ai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E6E1F0"/>
                </a:solidFill>
                <a:latin typeface="Arial"/>
              </a:rPr>
              <a:t>GlassBox — a KPI storytelling engine that explains a metric movement, tests its own explanation against the evidence, and labels every sentence with how sure it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The user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Who it's built for, and who actually pays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659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Four roles, one product — the buyer is deliberately not the first one listed.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5504688" cy="205740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56362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D9A8F7"/>
                </a:solidFill>
                <a:latin typeface="Arial"/>
              </a:rPr>
              <a:t>PRIMARY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180136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The manager staring at a number she can't explain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2313432"/>
            <a:ext cx="521208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In the prototype, “Priya,” Audio category lead at a mid-size electronics retailer. No SQL, no analytics degree — accountable for a KPI that moved before she knew why.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2784" y="1417320"/>
            <a:ext cx="5504688" cy="205740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56362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D9A8F7"/>
                </a:solidFill>
                <a:latin typeface="Arial"/>
              </a:rP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The analyst who does the investigation by hand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313432"/>
            <a:ext cx="521208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GlassBox doesn't remove this role. It removes the three-to-four-day mechanical part, so their time goes to the judgement calls the system correctly declines to make — a real drop with no true cause, or a confounder that survives every control test.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57600"/>
            <a:ext cx="5504688" cy="205740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380390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D9A8F7"/>
                </a:solidFill>
                <a:latin typeface="Arial"/>
              </a:rPr>
              <a:t>TERTIARY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404164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Finance / Ops leadership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4553712"/>
            <a:ext cx="521208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Receive the action object and the audit trail — not the raw investigation.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3657600"/>
            <a:ext cx="5504688" cy="205740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80390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D9A8F7"/>
                </a:solidFill>
                <a:latin typeface="Arial"/>
              </a:rPr>
              <a:t>NOT THE BUYER, AT LEAST NOT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041648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The data platform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553712"/>
            <a:ext cx="5212080" cy="1014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Adoption cost sits with them (writing semantic contracts), but the person who feels the pain and requests the tool is the KPI owner — this shapes go-to-market.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897880"/>
            <a:ext cx="11365992" cy="50292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897880"/>
            <a:ext cx="109636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A100FF"/>
                </a:solidFill>
                <a:latin typeface="Arial"/>
              </a:rPr>
              <a:t>Four roles, four different things received. </a:t>
            </a:r>
            <a:r>
              <a:rPr sz="1300" b="1">
                <a:solidFill>
                  <a:srgbClr val="333342"/>
                </a:solidFill>
                <a:latin typeface="Arial"/>
              </a:rPr>
              <a:t>The buyer isn't the one who feels the pain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The problem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Sized honestly, not sized to impress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6903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The bottleneck, argued the way we'd defend it in Q&amp;A.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53312"/>
            <a:ext cx="54864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353312"/>
            <a:ext cx="6720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Measured, not estimated.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333342"/>
                </a:solidFill>
                <a:latin typeface="Arial"/>
              </a:rPr>
              <a:t>GlassBox runs the same seven-stage investigation end to end in under 30 seconds measured, at $0 marginal cost in replay mode and a small, bounded live-mode cost — two LLM calls per run, hard-capped.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953512"/>
            <a:ext cx="54864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953512"/>
            <a:ext cx="6720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What we refuse to invent — and the highest-value thing left to do.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333342"/>
                </a:solidFill>
                <a:latin typeface="Arial"/>
              </a:rPr>
              <a:t>How many investigations a month a mid-size retailer actually runs, or what an analyst-day costs a specific customer. Those numbers need a discovery call with 3-5 real prospective customers — the single highest-value non-engineering task for the next phase.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553712"/>
            <a:ext cx="54864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4553712"/>
            <a:ext cx="6720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Why this is structural, not seasonal.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250" b="0">
                <a:solidFill>
                  <a:srgbClr val="333342"/>
                </a:solidFill>
                <a:latin typeface="Arial"/>
              </a:rPr>
              <a:t>Any organization running weekly or monthly KPI reviews across more than a handful of segments has this bottleneck, because it is structural — the translation from “what changed” to “why” is inherently manual today.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35240" y="1353312"/>
            <a:ext cx="4142232" cy="196596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1536192"/>
            <a:ext cx="373989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WHY THE GAP IS STRUCTURAL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100" b="0">
                <a:solidFill>
                  <a:srgbClr val="333342"/>
                </a:solidFill>
                <a:latin typeface="Arial"/>
              </a:rPr>
              <a:t>No public dataset pairs the four things this needs — KPIs, customer text, anomaly labels, cause labels. That gap is itself evidence nobody has solved this cleanly yet.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3502152"/>
            <a:ext cx="4142232" cy="1947672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685032"/>
            <a:ext cx="3739896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~70%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>
                <a:solidFill>
                  <a:srgbClr val="E6E1F0"/>
                </a:solidFill>
                <a:latin typeface="Arial"/>
              </a:rPr>
              <a:t>of a data team's time goes to preparing and chasing data, not analysing it — the scarce resource is explanation, not dashboards.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>
                <a:solidFill>
                  <a:srgbClr val="D9A8F7"/>
                </a:solidFill>
                <a:latin typeface="Arial"/>
              </a:rPr>
              <a:t>FORRESTER  ·  cited in our Round 1 submission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035040"/>
            <a:ext cx="11365992" cy="50292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6035040"/>
            <a:ext cx="109636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A100FF"/>
                </a:solidFill>
                <a:latin typeface="Arial"/>
              </a:rPr>
              <a:t>The gap is not explanation. </a:t>
            </a:r>
            <a:r>
              <a:rPr sz="1300" b="1">
                <a:solidFill>
                  <a:srgbClr val="333342"/>
                </a:solidFill>
                <a:latin typeface="Arial"/>
              </a:rPr>
              <a:t>It is explanation a leader can trust enough to act 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The product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Not a chatbot. Not an agent. A governed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6903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What GlassBox actually is.  </a:t>
            </a:r>
            <a:r>
              <a:rPr sz="1250" b="0">
                <a:solidFill>
                  <a:srgbClr val="333342"/>
                </a:solidFill>
                <a:latin typeface="Arial"/>
              </a:rPr>
              <a:t>A governed, deterministic investigation pipeline with two narrow, capped LLM touchpoints, sitting behind a semantic contract layer that doubles as the access-control layer.</a:t>
            </a:r>
          </a:p>
          <a:p>
            <a:pPr algn="l">
              <a:lnSpc>
                <a:spcPct val="126000"/>
              </a:lnSpc>
              <a:spcAft>
                <a:spcPts val="1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Why it matters commercially.  </a:t>
            </a:r>
            <a:r>
              <a:rPr sz="1250" b="0">
                <a:solidFill>
                  <a:srgbClr val="333342"/>
                </a:solidFill>
                <a:latin typeface="Arial"/>
              </a:rPr>
              <a:t>It's the difference between “another AI pilot that needs a security review nobody has time for” and “a tool where the access control is provably the same as the warehouse's own row-level security, because it's compiled from the same contract.”</a:t>
            </a:r>
          </a:p>
          <a:p>
            <a:pPr algn="l">
              <a:lnSpc>
                <a:spcPct val="126000"/>
              </a:lnSpc>
              <a:spcAft>
                <a:spcPts val="1400"/>
              </a:spcAft>
            </a:pPr>
            <a:r>
              <a:rPr sz="1250" b="1">
                <a:solidFill>
                  <a:srgbClr val="A100FF"/>
                </a:solidFill>
                <a:latin typeface="Arial"/>
              </a:rPr>
              <a:t>Demonstrated in the prototype, not just claimed:  </a:t>
            </a:r>
            <a:r>
              <a:rPr sz="1250" b="0">
                <a:solidFill>
                  <a:srgbClr val="333342"/>
                </a:solidFill>
                <a:latin typeface="Arial"/>
              </a:rPr>
              <a:t>a malicious support ticket retrieved, quoted as evidence and ignored · a below-threshold segment rolled up so no individual is inferable · role-based access producing a different entitlements_hash per persona · an append-only audit log of every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40" y="960120"/>
            <a:ext cx="4142232" cy="2788920"/>
          </a:xfrm>
          <a:prstGeom prst="rect">
            <a:avLst/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36408" y="1143000"/>
            <a:ext cx="3739896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200" b="1">
                <a:solidFill>
                  <a:srgbClr val="A100FF"/>
                </a:solidFill>
                <a:latin typeface="Arial"/>
              </a:rPr>
              <a:t>DEPLOYMENT MODEL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200" b="1">
                <a:solidFill>
                  <a:srgbClr val="333342"/>
                </a:solidFill>
                <a:latin typeface="Arial"/>
              </a:rPr>
              <a:t>Ships to the customer's data, never the reverse.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200" b="0">
                <a:solidFill>
                  <a:srgbClr val="333342"/>
                </a:solidFill>
                <a:latin typeface="Arial"/>
              </a:rPr>
              <a:t>Runs inside the customer's own cloud tenant, reads their warehouse through a read-only service account, and calls the model through a private endpoint in their own subscription.</a:t>
            </a:r>
          </a:p>
          <a:p>
            <a:pPr algn="l">
              <a:lnSpc>
                <a:spcPct val="132000"/>
              </a:lnSpc>
              <a:spcAft>
                <a:spcPts val="1100"/>
              </a:spcAft>
            </a:pPr>
            <a:r>
              <a:rPr sz="1200" b="1">
                <a:solidFill>
                  <a:srgbClr val="A100FF"/>
                </a:solidFill>
                <a:latin typeface="Arial"/>
              </a:rPr>
              <a:t>Five of seven stages never touch a model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931920"/>
            <a:ext cx="11365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A100FF"/>
                </a:solidFill>
                <a:latin typeface="Arial"/>
              </a:rPr>
              <a:t>AND EVERY SENTENCE IT WRITES CARRIES A TIER — NEVER BLENDED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224528"/>
            <a:ext cx="2156155" cy="77724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19732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VERIFIED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53712"/>
            <a:ext cx="1973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C9BDD9"/>
                </a:solidFill>
                <a:latin typeface="Arial"/>
              </a:rPr>
              <a:t>recomputable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13939" y="4224528"/>
            <a:ext cx="2156155" cy="777240"/>
          </a:xfrm>
          <a:prstGeom prst="rect">
            <a:avLst/>
          </a:prstGeom>
          <a:solidFill>
            <a:srgbClr val="5B2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5379" y="4297680"/>
            <a:ext cx="19732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EVIDENCED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5379" y="4553712"/>
            <a:ext cx="1973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E0C9F2"/>
                </a:solidFill>
                <a:latin typeface="Arial"/>
              </a:rPr>
              <a:t>document opens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16398" y="4224528"/>
            <a:ext cx="2156155" cy="777240"/>
          </a:xfrm>
          <a:prstGeom prst="rect">
            <a:avLst/>
          </a:prstGeom>
          <a:solidFill>
            <a:srgbClr val="8A2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7838" y="4297680"/>
            <a:ext cx="19732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7838" y="4553712"/>
            <a:ext cx="1973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EDD8FA"/>
                </a:solidFill>
                <a:latin typeface="Arial"/>
              </a:rPr>
              <a:t>with interval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8857" y="4224528"/>
            <a:ext cx="2156155" cy="77724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10297" y="4297680"/>
            <a:ext cx="19732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A1B3D"/>
                </a:solidFill>
                <a:latin typeface="Arial"/>
              </a:rPr>
              <a:t>CORRELATED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0297" y="4553712"/>
            <a:ext cx="1973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3F2455"/>
                </a:solidFill>
                <a:latin typeface="Arial"/>
              </a:rPr>
              <a:t>timing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1316" y="4224528"/>
            <a:ext cx="2156155" cy="777240"/>
          </a:xfrm>
          <a:prstGeom prst="rect">
            <a:avLst/>
          </a:prstGeom>
          <a:solidFill>
            <a:srgbClr val="E8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2756" y="4297680"/>
            <a:ext cx="19732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2A1B3D"/>
                </a:solidFill>
                <a:latin typeface="Arial"/>
              </a:rPr>
              <a:t>HYPOTHESIS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2756" y="4553712"/>
            <a:ext cx="197327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900" b="0">
                <a:solidFill>
                  <a:srgbClr val="5B3B75"/>
                </a:solidFill>
                <a:latin typeface="Arial"/>
              </a:rPr>
              <a:t>shown as a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66360"/>
            <a:ext cx="11365992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300" b="1">
                <a:solidFill>
                  <a:srgbClr val="A100FF"/>
                </a:solidFill>
                <a:latin typeface="Arial"/>
              </a:rPr>
              <a:t>Arithmetic first.  </a:t>
            </a:r>
            <a:r>
              <a:rPr sz="1300" b="0">
                <a:solidFill>
                  <a:srgbClr val="333342"/>
                </a:solidFill>
                <a:latin typeface="Arial"/>
              </a:rPr>
              <a:t>Localization ranks segments by explanatory power and surprise, not by size — ranking by size returns your biggest segment forever.</a:t>
            </a:r>
          </a:p>
          <a:p>
            <a:pPr algn="l">
              <a:lnSpc>
                <a:spcPct val="132000"/>
              </a:lnSpc>
              <a:spcAft>
                <a:spcPts val="1200"/>
              </a:spcAft>
            </a:pPr>
            <a:r>
              <a:rPr sz="1300" b="1">
                <a:solidFill>
                  <a:srgbClr val="A100FF"/>
                </a:solidFill>
                <a:latin typeface="Arial"/>
              </a:rPr>
              <a:t>Then language earns its place.  </a:t>
            </a:r>
            <a:r>
              <a:rPr sz="1300" b="0">
                <a:solidFill>
                  <a:srgbClr val="333342"/>
                </a:solidFill>
                <a:latin typeface="Arial"/>
              </a:rPr>
              <a:t>One segment and one date window become a sentence, not a slide of slices — and the model never decides which tier a claim earns.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Roadmap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Four phases, one customer at a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60120"/>
            <a:ext cx="2615184" cy="233172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1064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D9A8F7"/>
                </a:solidFill>
                <a:latin typeface="Arial"/>
              </a:rPr>
              <a:t>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138074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THIS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1746504"/>
            <a:ext cx="22860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050" b="0">
                <a:solidFill>
                  <a:srgbClr val="E6E1F0"/>
                </a:solidFill>
                <a:latin typeface="Arial"/>
              </a:rPr>
              <a:t>Engine, harness and evidence real and reproducible for 5 semantic contracts and 17 pre-registered scenarios. B1 and B3 baselines run live against a real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960120"/>
            <a:ext cx="2615184" cy="23317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1064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F0DB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38074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DESIGN PARTNER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746504"/>
            <a:ext cx="22860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050" b="0">
                <a:solidFill>
                  <a:srgbClr val="FFFFFF"/>
                </a:solidFill>
                <a:latin typeface="Arial"/>
              </a:rPr>
              <a:t>1 customer, 5 metrics already in their own monthly review, 90 days. Success criteria agreed up front: hallucinated-cause rate, and a comparison against their own current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960120"/>
            <a:ext cx="2615184" cy="233172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11064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D9A8F7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138074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VERTICAL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746504"/>
            <a:ext cx="22860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050" b="0">
                <a:solidFill>
                  <a:srgbClr val="E6E1F0"/>
                </a:solidFill>
                <a:latin typeface="Arial"/>
              </a:rPr>
              <a:t>3-5 customers, same vertical — electronics/general retail first. Contracts stay bespoke per customer; the underlying stages don't change.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960120"/>
            <a:ext cx="2615184" cy="233172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79992" y="1106424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D9A8F7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1380744"/>
            <a:ext cx="2286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Arial"/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1746504"/>
            <a:ext cx="2286000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050" b="0">
                <a:solidFill>
                  <a:srgbClr val="E6E1F0"/>
                </a:solidFill>
                <a:latin typeface="Arial"/>
              </a:rPr>
              <a:t>Self-service contract authoring, a real vector/hybrid index once corpus size crosses ~10⁵–10⁶ documents, and the persona set expanding as real customers tell us which roles use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20440"/>
            <a:ext cx="1136599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EXPLICITLY NOT ON THIS ROADMAP, AND WHY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49624"/>
            <a:ext cx="3642360" cy="1783080"/>
          </a:xfrm>
          <a:prstGeom prst="rect">
            <a:avLst/>
          </a:prstGeom>
          <a:solidFill>
            <a:srgbClr val="EA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50792"/>
            <a:ext cx="3276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A100FF"/>
                </a:solidFill>
                <a:latin typeface="Arial"/>
              </a:rPr>
              <a:t>NOT AN AGENT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36008"/>
            <a:ext cx="32766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150" b="0">
                <a:solidFill>
                  <a:srgbClr val="333342"/>
                </a:solidFill>
                <a:latin typeface="Arial"/>
              </a:rPr>
              <a:t>A trust product needs a control flow identical every run.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3296" y="3849624"/>
            <a:ext cx="3642360" cy="1783080"/>
          </a:xfrm>
          <a:prstGeom prst="rect">
            <a:avLst/>
          </a:prstGeom>
          <a:solidFill>
            <a:srgbClr val="EA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6176" y="4050792"/>
            <a:ext cx="3276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A100FF"/>
                </a:solidFill>
                <a:latin typeface="Arial"/>
              </a:rPr>
              <a:t>NOT A GENERAL CHATBOT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6176" y="4636008"/>
            <a:ext cx="32766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150" b="0">
                <a:solidFill>
                  <a:srgbClr val="333342"/>
                </a:solidFill>
                <a:latin typeface="Arial"/>
              </a:rPr>
              <a:t>The contract-scoped vocabulary is itself the trust mechanism.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5112" y="3849624"/>
            <a:ext cx="3642360" cy="1783080"/>
          </a:xfrm>
          <a:prstGeom prst="rect">
            <a:avLst/>
          </a:prstGeom>
          <a:solidFill>
            <a:srgbClr val="EA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7992" y="4050792"/>
            <a:ext cx="3276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A100FF"/>
                </a:solidFill>
                <a:latin typeface="Arial"/>
              </a:rPr>
              <a:t>NOT FINE-TUNED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7992" y="4636008"/>
            <a:ext cx="3276600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150" b="0">
                <a:solidFill>
                  <a:srgbClr val="333342"/>
                </a:solidFill>
                <a:latin typeface="Arial"/>
              </a:rPr>
              <a:t>Customer data never needs to leave the tenant for this to work.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815584"/>
            <a:ext cx="11365992" cy="822960"/>
          </a:xfrm>
          <a:prstGeom prst="rect">
            <a:avLst/>
          </a:prstGeom>
          <a:solidFill>
            <a:srgbClr val="2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" y="5943600"/>
            <a:ext cx="105430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D9A8F7"/>
                </a:solidFill>
                <a:latin typeface="Arial"/>
              </a:rPr>
              <a:t>Who buys it, and how: </a:t>
            </a:r>
            <a:r>
              <a:rPr sz="1200" b="0">
                <a:solidFill>
                  <a:srgbClr val="E6E1F0"/>
                </a:solidFill>
                <a:latin typeface="Arial"/>
              </a:rPr>
              <a:t>the CDO or analytics platform owner, used by category managers and finance — sold one design partner at a time, as a layer on the BI stack the enterprise already owns, not a rip-and-replace.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11365992" cy="5029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6072" y="274320"/>
            <a:ext cx="1103680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Risks</a:t>
            </a:r>
            <a:r>
              <a:rPr sz="1700" b="0">
                <a:solidFill>
                  <a:srgbClr val="E8D2FF"/>
                </a:solidFill>
                <a:latin typeface="Arial"/>
              </a:rPr>
              <a:t>   |   </a:t>
            </a:r>
            <a:r>
              <a:rPr sz="1700" b="1">
                <a:solidFill>
                  <a:srgbClr val="FFFFFF"/>
                </a:solidFill>
                <a:latin typeface="Arial"/>
              </a:rPr>
              <a:t>Named honestly, mitigated deliberately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32688"/>
          <a:ext cx="11365992" cy="562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743200"/>
                <a:gridCol w="5376672"/>
              </a:tblGrid>
              <a:tr h="7029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</a:p>
                  </a:txBody>
                  <a:tcPr anchor="ctr" marL="73152" marR="73152" marT="45720" marB="45720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 marT="45720" marB="45720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anchor="ctr" marL="73152" marR="73152" marT="45720" marB="45720">
                    <a:solidFill>
                      <a:srgbClr val="A100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Contract authoring cost blocks adoption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Real — 5 metrics is an afternoon each; 400 is a programme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Phase 1 scopes to 5 metrics with one design partner, not a big-bang rollout.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Synthetic-primary-dataset objection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Real, named rather than hidden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We had to build this: no public dataset pairs KPIs, customer text and cause labels. Ground truth was frozen in data/injection_manifest.yaml before the engine existed — git-log provable — and the generator makes it hard on purpose (ramped changes, spillover into ‘control’ segments, a confounded rival cause). RS external benchmark (135 real anomalies) adds real-data coverage, planned but not yet run.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A confounder survives every control-segment test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Real — a designed failure-mode test in our own evaluation suite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Measured behavior: the system abstains rather than force an answer.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LLM provider dependency / vendor lock-in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Partially mitigated by design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engine/llm_client.py is the single boundary; a second live provider adapter was added without touching any other file.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A live-mode cost surprise at scale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Low, and measured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Two LLM calls per run, hard-capped in the schema and enforced in code.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Market size / willingness to pay unvalidated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Real, explicitly not hidden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Named as the top open item. No number is asserted for it.</a:t>
                      </a:r>
                    </a:p>
                  </a:txBody>
                  <a:tcPr anchor="ctr" marL="73152" marR="73152" marT="45720" marB="45720">
                    <a:solidFill>
                      <a:srgbClr val="EAE4F2"/>
                    </a:solidFill>
                  </a:tcPr>
                </a:tc>
              </a:tr>
              <a:tr h="70294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42"/>
                          </a:solidFill>
                          <a:latin typeface="Arial"/>
                        </a:rPr>
                        <a:t>“Just use one LLM prompt” competitive pressure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Real — the most common objection this category faces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3342"/>
                          </a:solidFill>
                          <a:latin typeface="Arial"/>
                        </a:rPr>
                        <a:t>B3 baseline run live: fluent, 70-80%-confident, fabricated cause on our hardest no-planted-cause test — quoted verbatim, not paraphrased.</a:t>
                      </a:r>
                    </a:p>
                  </a:txBody>
                  <a:tcPr anchor="ctr"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_Imag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F26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0_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828800" cy="484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6596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E8D2FF"/>
                </a:solidFill>
                <a:latin typeface="Arial"/>
              </a:rPr>
              <a:t>THE PITCH, IN ONE PARAGRAPH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96012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10128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GlassBox — the KPI storytelling engine that shows its 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>
                <a:solidFill>
                  <a:srgbClr val="E6E1F0"/>
                </a:solidFill>
                <a:latin typeface="Arial"/>
              </a:rPr>
              <a:t>A KPI moves. Today, finding out why costs three to four analyst-days, or it costs one AI prompt and produces a confident, fabricated paragraph. GlassBox is neither: five of seven stages are arithmetic with no model in the loop, and — measured, not claimed — it produces zero hallucinated causes across 15 scored, pre-registered scenarios, while a real run of the obvious one-prompt alternative invents one on the scenario built to test exactly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327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D9A8F7"/>
                </a:solidFill>
                <a:latin typeface="Arial"/>
              </a:rPr>
              <a:t>Problem statement 3  ·  BusinessIntelligence.ai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2531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CFC7DD"/>
                </a:solidFill>
                <a:latin typeface="Arial"/>
              </a:rPr>
              <a:t>Team 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59253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C9C2D6"/>
                </a:solidFill>
                <a:latin typeface="Arial"/>
              </a:rPr>
              <a:t>Business Proposal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